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2" d="100"/>
          <a:sy n="62" d="100"/>
        </p:scale>
        <p:origin x="80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332720" cy="31085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1" dirty="0">
                <a:solidFill>
                  <a:srgbClr val="7CDDCF"/>
                </a:solidFill>
                <a:latin typeface="Aptos"/>
              </a:rPr>
              <a:t>MECHATRONICS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241280" cy="1157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3400" b="1" dirty="0">
                <a:solidFill>
                  <a:srgbClr val="FFFFFF"/>
                </a:solidFill>
                <a:latin typeface="Aptos"/>
              </a:rPr>
              <a:t>EMG + Eye-Tracking
</a:t>
            </a:r>
            <a:r>
              <a:rPr lang="en-GB" sz="3400" b="1" dirty="0">
                <a:solidFill>
                  <a:srgbClr val="FFFFFF"/>
                </a:solidFill>
                <a:latin typeface="Aptos"/>
              </a:rPr>
              <a:t>SMART MOBILITY SYSTEM</a:t>
            </a:r>
            <a:endParaRPr sz="34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9509760" cy="7132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800" b="0">
                <a:solidFill>
                  <a:srgbClr val="DCE5EF"/>
                </a:solidFill>
                <a:latin typeface="Aptos"/>
              </a:rPr>
              <a:t>A hands-free control concept using muscle activity and eye gestures to command a small RC vehicle.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25274"/>
            <a:ext cx="5303520" cy="2800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 dirty="0">
                <a:solidFill>
                  <a:srgbClr val="FFFFFF"/>
                </a:solidFill>
                <a:latin typeface="Aptos"/>
              </a:rPr>
              <a:t>Prepared by: Akin 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88136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700" b="1">
                <a:solidFill>
                  <a:srgbClr val="12223A"/>
                </a:solidFill>
                <a:latin typeface="Aptos"/>
              </a:rPr>
              <a:t>Project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713232" cy="5029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5669280" cy="4389120"/>
          </a:xfrm>
          <a:prstGeom prst="rect">
            <a:avLst/>
          </a:prstGeom>
          <a:noFill/>
        </p:spPr>
        <p:txBody>
          <a:bodyPr wrap="square" lIns="54864" tIns="36576" rIns="45720" bIns="18288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C36"/>
                </a:solidFill>
                <a:latin typeface="Aptos"/>
              </a:defRPr>
            </a:pPr>
            <a:r>
              <a:t>Goal: demonstrate vehicle movement using one EMG sensor and eye gestures instead of a handheld joystick.</a:t>
            </a:r>
          </a:p>
          <a:p>
            <a:pPr>
              <a:spcAft>
                <a:spcPts val="1200"/>
              </a:spcAft>
              <a:defRPr sz="1600">
                <a:solidFill>
                  <a:srgbClr val="232C36"/>
                </a:solidFill>
                <a:latin typeface="Aptos"/>
              </a:defRPr>
            </a:pPr>
            <a:r>
              <a:t>EMG input: muscle activation is read by an Arduino and sent to a laptop over USB serial.</a:t>
            </a:r>
          </a:p>
          <a:p>
            <a:pPr>
              <a:spcAft>
                <a:spcPts val="1200"/>
              </a:spcAft>
              <a:defRPr sz="1600">
                <a:solidFill>
                  <a:srgbClr val="232C36"/>
                </a:solidFill>
                <a:latin typeface="Aptos"/>
              </a:defRPr>
            </a:pPr>
            <a:r>
              <a:t>Eye input: a webcam and Python-based eye tracking estimate eye-closure gestures.</a:t>
            </a:r>
          </a:p>
          <a:p>
            <a:pPr>
              <a:spcAft>
                <a:spcPts val="1200"/>
              </a:spcAft>
              <a:defRPr sz="1600">
                <a:solidFill>
                  <a:srgbClr val="232C36"/>
                </a:solidFill>
                <a:latin typeface="Aptos"/>
              </a:defRPr>
            </a:pPr>
            <a:r>
              <a:t>Command link: the laptop sends movement commands over Wi-Fi to an ESP32 on the vehicle.</a:t>
            </a:r>
          </a:p>
          <a:p>
            <a:pPr>
              <a:spcAft>
                <a:spcPts val="1200"/>
              </a:spcAft>
              <a:defRPr sz="1600">
                <a:solidFill>
                  <a:srgbClr val="232C36"/>
                </a:solidFill>
                <a:latin typeface="Aptos"/>
              </a:defRPr>
            </a:pPr>
            <a:r>
              <a:t>Actuation: an L298N dual H-bridge drives the two DC motors on the RC car.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>
                <a:solidFill>
                  <a:srgbClr val="5A697A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88136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700" b="1">
                <a:solidFill>
                  <a:srgbClr val="12223A"/>
                </a:solidFill>
                <a:latin typeface="Aptos"/>
              </a:rPr>
              <a:t>Motivation and project aims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8813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>
                <a:solidFill>
                  <a:srgbClr val="5A697A"/>
                </a:solidFill>
                <a:latin typeface="Aptos"/>
              </a:rPr>
              <a:t>A proof-of-concept for accessible, hands-free control.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713232" cy="5029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182880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755648"/>
            <a:ext cx="309981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2A69AA"/>
                </a:solidFill>
                <a:latin typeface="Aptos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30552"/>
            <a:ext cx="3099816" cy="81868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 dirty="0">
                <a:solidFill>
                  <a:srgbClr val="232C36"/>
                </a:solidFill>
                <a:latin typeface="Aptos"/>
              </a:rPr>
              <a:t>A conventional </a:t>
            </a:r>
            <a:r>
              <a:rPr lang="en-GB" sz="1150" dirty="0">
                <a:solidFill>
                  <a:srgbClr val="232C36"/>
                </a:solidFill>
                <a:latin typeface="Aptos"/>
              </a:rPr>
              <a:t>mobility vehicle require physical strain to move and is extremely challenging for someone who is paralysed or has very minimal movement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429000" cy="182880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755648"/>
            <a:ext cx="309981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1B998B"/>
                </a:solidFill>
                <a:latin typeface="Aptos"/>
              </a:rPr>
              <a:t>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130552"/>
            <a:ext cx="3099816" cy="12618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>
                <a:solidFill>
                  <a:srgbClr val="232C36"/>
                </a:solidFill>
                <a:latin typeface="Aptos"/>
              </a:rPr>
              <a:t>Combine a muscle-activity signal for movement permission with eye gestures for directional steering.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429000" cy="182880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11312" y="1755648"/>
            <a:ext cx="309981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E18936"/>
                </a:solidFill>
                <a:latin typeface="Aptos"/>
              </a:rPr>
              <a:t>Demonstration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130552"/>
            <a:ext cx="3099816" cy="12618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>
                <a:solidFill>
                  <a:srgbClr val="232C36"/>
                </a:solidFill>
                <a:latin typeface="Aptos"/>
              </a:rPr>
              <a:t>Build a working, understandable end-to-end prototype and document its mechanical, electrical and software subsystems.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77639"/>
            <a:ext cx="105156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900" b="1">
                <a:solidFill>
                  <a:srgbClr val="12223A"/>
                </a:solidFill>
                <a:latin typeface="Aptos"/>
              </a:rPr>
              <a:t>Project objectives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89120"/>
            <a:ext cx="10332720" cy="1508760"/>
          </a:xfrm>
          <a:prstGeom prst="rect">
            <a:avLst/>
          </a:prstGeom>
          <a:noFill/>
        </p:spPr>
        <p:txBody>
          <a:bodyPr wrap="square" lIns="54864" tIns="36576" rIns="45720" bIns="18288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C36"/>
                </a:solidFill>
                <a:latin typeface="Aptos"/>
              </a:defRPr>
            </a:pPr>
            <a:r>
              <a:t>Read EMG sensor output and classify muscle activation.</a:t>
            </a:r>
          </a:p>
          <a:p>
            <a:pPr>
              <a:spcAft>
                <a:spcPts val="500"/>
              </a:spcAft>
              <a:defRPr sz="1400">
                <a:solidFill>
                  <a:srgbClr val="232C36"/>
                </a:solidFill>
                <a:latin typeface="Aptos"/>
              </a:defRPr>
            </a:pPr>
            <a:r>
              <a:t>Estimate eye gestures from webcam landmarks using Python.</a:t>
            </a:r>
          </a:p>
          <a:p>
            <a:pPr>
              <a:spcAft>
                <a:spcPts val="500"/>
              </a:spcAft>
              <a:defRPr sz="1400">
                <a:solidFill>
                  <a:srgbClr val="232C36"/>
                </a:solidFill>
                <a:latin typeface="Aptos"/>
              </a:defRPr>
            </a:pPr>
            <a:r>
              <a:t>Transmit commands to the ESP32 and control motor direction through the L298N.</a:t>
            </a:r>
          </a:p>
          <a:p>
            <a:pPr>
              <a:spcAft>
                <a:spcPts val="500"/>
              </a:spcAft>
              <a:defRPr sz="1400">
                <a:solidFill>
                  <a:srgbClr val="232C36"/>
                </a:solidFill>
                <a:latin typeface="Aptos"/>
              </a:defRPr>
            </a:pPr>
            <a:r>
              <a:t>Design and print custom brackets/mounts to organise and secure prototype hardware.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>
                <a:solidFill>
                  <a:srgbClr val="5A697A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88136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700" b="1">
                <a:solidFill>
                  <a:srgbClr val="12223A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8813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>
                <a:solidFill>
                  <a:srgbClr val="5A697A"/>
                </a:solidFill>
                <a:latin typeface="Aptos"/>
              </a:rPr>
              <a:t>Signal path from user input to vehicle movement.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713232" cy="5029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2057400"/>
            <a:ext cx="1874519" cy="96012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2167128"/>
            <a:ext cx="154533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1B998B"/>
                </a:solidFill>
                <a:latin typeface="Aptos"/>
              </a:rPr>
              <a:t>EMG sensor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542032"/>
            <a:ext cx="1545336" cy="3931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>
                <a:solidFill>
                  <a:srgbClr val="232C36"/>
                </a:solidFill>
                <a:latin typeface="Aptos"/>
              </a:rPr>
              <a:t>Muscle signal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2057400"/>
            <a:ext cx="1874519" cy="96012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70632" y="2167128"/>
            <a:ext cx="154533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1B998B"/>
                </a:solidFill>
                <a:latin typeface="Aptos"/>
              </a:rPr>
              <a:t>Arduino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0632" y="2542032"/>
            <a:ext cx="1545336" cy="3931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>
                <a:solidFill>
                  <a:srgbClr val="232C36"/>
                </a:solidFill>
                <a:latin typeface="Aptos"/>
              </a:rPr>
              <a:t>Read + classify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2057400"/>
            <a:ext cx="1874519" cy="96012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73752" y="2167128"/>
            <a:ext cx="154533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1B998B"/>
                </a:solidFill>
                <a:latin typeface="Aptos"/>
              </a:rPr>
              <a:t>Laptop /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3752" y="2542032"/>
            <a:ext cx="1545336" cy="3931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>
                <a:solidFill>
                  <a:srgbClr val="232C36"/>
                </a:solidFill>
                <a:latin typeface="Aptos"/>
              </a:rPr>
              <a:t>EMG + eye logic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2057400"/>
            <a:ext cx="1874519" cy="96012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76872" y="2167128"/>
            <a:ext cx="154533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1B998B"/>
                </a:solidFill>
                <a:latin typeface="Aptos"/>
              </a:rPr>
              <a:t>Wi-Fi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6872" y="2542032"/>
            <a:ext cx="1545336" cy="3931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>
                <a:solidFill>
                  <a:srgbClr val="232C36"/>
                </a:solidFill>
                <a:latin typeface="Aptos"/>
              </a:rPr>
              <a:t>HTTP command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2057400"/>
            <a:ext cx="2514600" cy="96012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79992" y="2167128"/>
            <a:ext cx="218541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2A69AA"/>
                </a:solidFill>
                <a:latin typeface="Aptos"/>
              </a:rPr>
              <a:t>ESP32 + L298N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9992" y="2542032"/>
            <a:ext cx="2185416" cy="3931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>
                <a:solidFill>
                  <a:srgbClr val="232C36"/>
                </a:solidFill>
                <a:latin typeface="Aptos"/>
              </a:rPr>
              <a:t>Motor control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395728" y="2350008"/>
            <a:ext cx="201168" cy="292608"/>
          </a:xfrm>
          <a:prstGeom prst="rightArrow">
            <a:avLst/>
          </a:prstGeom>
          <a:solidFill>
            <a:srgbClr val="5A6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ight Arrow 21"/>
          <p:cNvSpPr/>
          <p:nvPr/>
        </p:nvSpPr>
        <p:spPr>
          <a:xfrm>
            <a:off x="4498848" y="2350008"/>
            <a:ext cx="201168" cy="292608"/>
          </a:xfrm>
          <a:prstGeom prst="rightArrow">
            <a:avLst/>
          </a:prstGeom>
          <a:solidFill>
            <a:srgbClr val="5A6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ight Arrow 22"/>
          <p:cNvSpPr/>
          <p:nvPr/>
        </p:nvSpPr>
        <p:spPr>
          <a:xfrm>
            <a:off x="6601968" y="2350008"/>
            <a:ext cx="201168" cy="292608"/>
          </a:xfrm>
          <a:prstGeom prst="rightArrow">
            <a:avLst/>
          </a:prstGeom>
          <a:solidFill>
            <a:srgbClr val="5A6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ight Arrow 23"/>
          <p:cNvSpPr/>
          <p:nvPr/>
        </p:nvSpPr>
        <p:spPr>
          <a:xfrm>
            <a:off x="8705088" y="2350008"/>
            <a:ext cx="201168" cy="292608"/>
          </a:xfrm>
          <a:prstGeom prst="rightArrow">
            <a:avLst/>
          </a:prstGeom>
          <a:solidFill>
            <a:srgbClr val="5A6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31520" y="3886200"/>
            <a:ext cx="3246120" cy="1554480"/>
          </a:xfrm>
          <a:prstGeom prst="roundRect">
            <a:avLst/>
          </a:prstGeom>
          <a:solidFill>
            <a:srgbClr val="EFF4F9"/>
          </a:solidFill>
          <a:ln w="17780">
            <a:solidFill>
              <a:srgbClr val="A0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2A69AA"/>
                </a:solidFill>
                <a:latin typeface="Aptos"/>
              </a:rPr>
              <a:t>＋
EMG SENSOR + ARDUINO</a:t>
            </a:r>
          </a:p>
          <a:p>
            <a:pPr algn="ctr"/>
            <a:r>
              <a:rPr sz="900" dirty="0">
                <a:solidFill>
                  <a:srgbClr val="5A697A"/>
                </a:solidFill>
                <a:latin typeface="Aptos"/>
              </a:rPr>
              <a:t>Photo of sensor and wiring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886200"/>
            <a:ext cx="3246120" cy="1554480"/>
          </a:xfrm>
          <a:prstGeom prst="roundRect">
            <a:avLst/>
          </a:prstGeom>
          <a:solidFill>
            <a:srgbClr val="EFF4F9"/>
          </a:solidFill>
          <a:ln w="17780">
            <a:solidFill>
              <a:srgbClr val="A0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2A69AA"/>
                </a:solidFill>
                <a:latin typeface="Aptos"/>
              </a:rPr>
              <a:t>＋
ESP32 + MOTOR DRIVER</a:t>
            </a:r>
          </a:p>
          <a:p>
            <a:pPr algn="ctr"/>
            <a:r>
              <a:rPr sz="900">
                <a:solidFill>
                  <a:srgbClr val="5A697A"/>
                </a:solidFill>
                <a:latin typeface="Aptos"/>
              </a:rPr>
              <a:t>Photo of electronics on vehicle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806440"/>
            <a:ext cx="104241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>
                <a:solidFill>
                  <a:srgbClr val="5A697A"/>
                </a:solidFill>
                <a:latin typeface="Aptos"/>
              </a:rPr>
              <a:t>Note: the laptop is the integration point; it combines EMG serial data and eye-tracking output before sending a command.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>
                <a:solidFill>
                  <a:srgbClr val="5A697A"/>
                </a:solidFill>
                <a:latin typeface="Aptos"/>
              </a:rPr>
              <a:t>04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9B1F155-E0E8-BFFC-006B-32B1FB79D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271" y="3895344"/>
            <a:ext cx="3318913" cy="153619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15CB802-E8F6-3B48-A796-D93DAFA1B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04" y="3840481"/>
            <a:ext cx="3657636" cy="19636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88136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700" b="1">
                <a:solidFill>
                  <a:srgbClr val="12223A"/>
                </a:solidFill>
                <a:latin typeface="Aptos"/>
              </a:rPr>
              <a:t>Hardware and electronics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8813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>
                <a:solidFill>
                  <a:srgbClr val="5A697A"/>
                </a:solidFill>
                <a:latin typeface="Aptos"/>
              </a:rPr>
              <a:t>Main components and their roles.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713232" cy="5029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2743200" cy="576072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682495"/>
            <a:ext cx="241401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1B998B"/>
                </a:solidFill>
                <a:latin typeface="Aptos"/>
              </a:rPr>
              <a:t>EMG sensor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057400"/>
            <a:ext cx="2414016" cy="91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03320" y="1645920"/>
            <a:ext cx="731520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0">
                <a:solidFill>
                  <a:srgbClr val="232C36"/>
                </a:solidFill>
                <a:latin typeface="Aptos"/>
              </a:rPr>
              <a:t>Captures muscle-related electrical activity; output is read by Arduino analog input.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86000"/>
            <a:ext cx="2743200" cy="576072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395728"/>
            <a:ext cx="241401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2A69AA"/>
                </a:solidFill>
                <a:latin typeface="Aptos"/>
              </a:rPr>
              <a:t>Arduino Uno / compatible 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770632"/>
            <a:ext cx="2414016" cy="91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2359152"/>
            <a:ext cx="731520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0">
                <a:solidFill>
                  <a:srgbClr val="232C36"/>
                </a:solidFill>
                <a:latin typeface="Aptos"/>
              </a:rPr>
              <a:t>Samples the EMG signal and sends readings or state over USB serial.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999232"/>
            <a:ext cx="2743200" cy="576072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" y="3108960"/>
            <a:ext cx="241401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1B998B"/>
                </a:solidFill>
                <a:latin typeface="Aptos"/>
              </a:rPr>
              <a:t>Laptop + webcam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3483864"/>
            <a:ext cx="2414016" cy="91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03320" y="3072384"/>
            <a:ext cx="731520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0">
                <a:solidFill>
                  <a:srgbClr val="232C36"/>
                </a:solidFill>
                <a:latin typeface="Aptos"/>
              </a:rPr>
              <a:t>Runs Python, processes eye landmarks and combines the input states.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712463"/>
            <a:ext cx="2743200" cy="576072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" y="3822191"/>
            <a:ext cx="241401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2A69AA"/>
                </a:solidFill>
                <a:latin typeface="Aptos"/>
              </a:rPr>
              <a:t>ESP32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4197096"/>
            <a:ext cx="2414016" cy="91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03320" y="3785615"/>
            <a:ext cx="731520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0">
                <a:solidFill>
                  <a:srgbClr val="232C36"/>
                </a:solidFill>
                <a:latin typeface="Aptos"/>
              </a:rPr>
              <a:t>Hosts a small HTTP command endpoint over Wi-Fi.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425696"/>
            <a:ext cx="2743200" cy="576072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1832" y="4535424"/>
            <a:ext cx="241401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1B998B"/>
                </a:solidFill>
                <a:latin typeface="Aptos"/>
              </a:rPr>
              <a:t>L298N dual H-bridge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" y="4910328"/>
            <a:ext cx="2414016" cy="91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03320" y="4498848"/>
            <a:ext cx="731520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0">
                <a:solidFill>
                  <a:srgbClr val="232C36"/>
                </a:solidFill>
                <a:latin typeface="Aptos"/>
              </a:rPr>
              <a:t>Controls polarity/direction for the two DC motor channels.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138928"/>
            <a:ext cx="2743200" cy="576072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1832" y="5248656"/>
            <a:ext cx="241401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2A69AA"/>
                </a:solidFill>
                <a:latin typeface="Aptos"/>
              </a:rPr>
              <a:t>RC car chassis + DC motors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" y="5623560"/>
            <a:ext cx="2414016" cy="91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03320" y="5212080"/>
            <a:ext cx="731520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0">
                <a:solidFill>
                  <a:srgbClr val="232C36"/>
                </a:solidFill>
                <a:latin typeface="Aptos"/>
              </a:rPr>
              <a:t>Provides the mobile platform for the proof-of-concept.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>
                <a:solidFill>
                  <a:srgbClr val="5A697A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88136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700" b="1">
                <a:solidFill>
                  <a:srgbClr val="12223A"/>
                </a:solidFill>
                <a:latin typeface="Aptos"/>
              </a:rPr>
              <a:t>CAD design and 3D-printed brackets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8813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>
                <a:solidFill>
                  <a:srgbClr val="5A697A"/>
                </a:solidFill>
                <a:latin typeface="Aptos"/>
              </a:rPr>
              <a:t>Mechanical design supports integration, mounting and repeatable assembly.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713232" cy="5029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3886200" cy="1260858"/>
          </a:xfrm>
          <a:prstGeom prst="rect">
            <a:avLst/>
          </a:prstGeom>
          <a:noFill/>
        </p:spPr>
        <p:txBody>
          <a:bodyPr wrap="square" lIns="54864" tIns="36576" rIns="45720" bIns="18288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2C36"/>
                </a:solidFill>
                <a:latin typeface="Aptos"/>
              </a:defRPr>
            </a:pPr>
            <a:r>
              <a:rPr dirty="0"/>
              <a:t>CAD was used to plan and </a:t>
            </a:r>
            <a:r>
              <a:rPr dirty="0" err="1"/>
              <a:t>customise</a:t>
            </a:r>
            <a:r>
              <a:rPr dirty="0"/>
              <a:t> mounting geometry around the available prototype components.</a:t>
            </a:r>
          </a:p>
          <a:p>
            <a:pPr>
              <a:spcAft>
                <a:spcPts val="1000"/>
              </a:spcAft>
              <a:defRPr sz="1400">
                <a:solidFill>
                  <a:srgbClr val="232C36"/>
                </a:solidFill>
                <a:latin typeface="Aptos"/>
              </a:defRPr>
            </a:pPr>
            <a:r>
              <a:rPr dirty="0"/>
              <a:t>3D-printed brackets can help secure electronics, route wires and reduce movement during testing.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83480" y="1572768"/>
            <a:ext cx="2880360" cy="1965960"/>
          </a:xfrm>
          <a:prstGeom prst="roundRect">
            <a:avLst/>
          </a:prstGeom>
          <a:solidFill>
            <a:srgbClr val="EFF4F9"/>
          </a:solidFill>
          <a:ln w="17780">
            <a:solidFill>
              <a:srgbClr val="A0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2A69AA"/>
                </a:solidFill>
                <a:latin typeface="Aptos"/>
              </a:rPr>
              <a:t>＋
CAD MODEL</a:t>
            </a:r>
          </a:p>
          <a:p>
            <a:pPr algn="ctr"/>
            <a:r>
              <a:rPr sz="900" dirty="0">
                <a:solidFill>
                  <a:srgbClr val="5A697A"/>
                </a:solidFill>
                <a:latin typeface="Aptos"/>
              </a:rPr>
              <a:t>Insert Fusion 360 screenshot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572768"/>
            <a:ext cx="2880360" cy="1965960"/>
          </a:xfrm>
          <a:prstGeom prst="roundRect">
            <a:avLst/>
          </a:prstGeom>
          <a:solidFill>
            <a:srgbClr val="EFF4F9"/>
          </a:solidFill>
          <a:ln w="17780">
            <a:solidFill>
              <a:srgbClr val="A0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2A69AA"/>
                </a:solidFill>
                <a:latin typeface="Aptos"/>
              </a:rPr>
              <a:t>＋
PRINTED BRACKET</a:t>
            </a:r>
          </a:p>
          <a:p>
            <a:pPr algn="ctr"/>
            <a:r>
              <a:rPr sz="900">
                <a:solidFill>
                  <a:srgbClr val="5A697A"/>
                </a:solidFill>
                <a:latin typeface="Aptos"/>
              </a:rPr>
              <a:t>Insert photo of printed part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3794760"/>
            <a:ext cx="2880360" cy="1965960"/>
          </a:xfrm>
          <a:prstGeom prst="roundRect">
            <a:avLst/>
          </a:prstGeom>
          <a:solidFill>
            <a:srgbClr val="EFF4F9"/>
          </a:solidFill>
          <a:ln w="17780">
            <a:solidFill>
              <a:srgbClr val="A0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2A69AA"/>
                </a:solidFill>
                <a:latin typeface="Aptos"/>
              </a:rPr>
              <a:t>＋
BRACKET ON CHASSIS</a:t>
            </a:r>
          </a:p>
          <a:p>
            <a:pPr algn="ctr"/>
            <a:r>
              <a:rPr sz="900">
                <a:solidFill>
                  <a:srgbClr val="5A697A"/>
                </a:solidFill>
                <a:latin typeface="Aptos"/>
              </a:rPr>
              <a:t>Insert mounted-part photo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3794760"/>
            <a:ext cx="2880360" cy="1965960"/>
          </a:xfrm>
          <a:prstGeom prst="roundRect">
            <a:avLst/>
          </a:prstGeom>
          <a:solidFill>
            <a:srgbClr val="EFF4F9"/>
          </a:solidFill>
          <a:ln w="17780">
            <a:solidFill>
              <a:srgbClr val="A0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2A69AA"/>
                </a:solidFill>
                <a:latin typeface="Aptos"/>
              </a:rPr>
              <a:t>＋
DETAIL / DIMENSIONS</a:t>
            </a:r>
          </a:p>
          <a:p>
            <a:pPr algn="ctr"/>
            <a:r>
              <a:rPr sz="900">
                <a:solidFill>
                  <a:srgbClr val="5A697A"/>
                </a:solidFill>
                <a:latin typeface="Aptos"/>
              </a:rPr>
              <a:t>Insert close-up or drawing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>
                <a:solidFill>
                  <a:srgbClr val="5A697A"/>
                </a:solidFill>
                <a:latin typeface="Aptos"/>
              </a:rPr>
              <a:t>06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FC91EF3-A89E-8D67-CA52-57F3C00D8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3715649"/>
            <a:ext cx="2880360" cy="212418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706C278-0893-E7FF-4A53-BC23FF4B9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59" y="1463246"/>
            <a:ext cx="3182812" cy="22524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D41BF3C-18E0-02B8-582F-37CEC6648B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3794760"/>
            <a:ext cx="2880360" cy="210898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799F4A7-58AC-260A-6F2C-52ED06920E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2802" y="1438584"/>
            <a:ext cx="3017178" cy="22628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88136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700" b="1">
                <a:solidFill>
                  <a:srgbClr val="12223A"/>
                </a:solidFill>
                <a:latin typeface="Aptos"/>
              </a:rPr>
              <a:t>RC car and motor-driver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8813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>
                <a:solidFill>
                  <a:srgbClr val="5A697A"/>
                </a:solidFill>
                <a:latin typeface="Aptos"/>
              </a:rPr>
              <a:t>The ESP32 sends direction signals to the L298N.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713232" cy="5029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5166360"/>
            <a:ext cx="50292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>
                <a:solidFill>
                  <a:srgbClr val="12223A"/>
                </a:solidFill>
                <a:latin typeface="Aptos"/>
              </a:rPr>
              <a:t>ESP32 → L298N pin mapping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04688"/>
            <a:ext cx="219456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1">
                <a:solidFill>
                  <a:srgbClr val="232C36"/>
                </a:solidFill>
                <a:latin typeface="Aptos"/>
              </a:rPr>
              <a:t>ENA  →  GPIO 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760720"/>
            <a:ext cx="219456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1">
                <a:solidFill>
                  <a:srgbClr val="232C36"/>
                </a:solidFill>
                <a:latin typeface="Aptos"/>
              </a:rPr>
              <a:t>IN1  →  GPIO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016752"/>
            <a:ext cx="219456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1">
                <a:solidFill>
                  <a:srgbClr val="232C36"/>
                </a:solidFill>
                <a:latin typeface="Aptos"/>
              </a:rPr>
              <a:t>IN2  →  GPIO 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5504688"/>
            <a:ext cx="219456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1">
                <a:solidFill>
                  <a:srgbClr val="232C36"/>
                </a:solidFill>
                <a:latin typeface="Aptos"/>
              </a:rPr>
              <a:t>ENB  →  GPIO 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760720"/>
            <a:ext cx="219456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1">
                <a:solidFill>
                  <a:srgbClr val="232C36"/>
                </a:solidFill>
                <a:latin typeface="Aptos"/>
              </a:rPr>
              <a:t>IN3  →  GPIO 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6016752"/>
            <a:ext cx="219456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1">
                <a:solidFill>
                  <a:srgbClr val="232C36"/>
                </a:solidFill>
                <a:latin typeface="Aptos"/>
              </a:rPr>
              <a:t>IN4  →  GPIO 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537960"/>
            <a:ext cx="89611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0">
                <a:solidFill>
                  <a:srgbClr val="5A697A"/>
                </a:solidFill>
                <a:latin typeface="Aptos"/>
              </a:rPr>
              <a:t>EMG + EYE-TRACKING CONTROLLED RC MOBILITY DEMONSTRATOR  |  PROJECT 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>
                <a:solidFill>
                  <a:srgbClr val="5A697A"/>
                </a:solidFill>
                <a:latin typeface="Aptos"/>
              </a:rPr>
              <a:t>07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29BF978-481E-0E07-6265-25556192E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304" y="1303020"/>
            <a:ext cx="8851392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88136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700" b="1">
                <a:solidFill>
                  <a:srgbClr val="12223A"/>
                </a:solidFill>
                <a:latin typeface="Aptos"/>
              </a:rPr>
              <a:t>Software and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8813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>
                <a:solidFill>
                  <a:srgbClr val="5A697A"/>
                </a:solidFill>
                <a:latin typeface="Aptos"/>
              </a:rPr>
              <a:t>Three software layers work together.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713232" cy="5029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196596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755648"/>
            <a:ext cx="309981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2A69AA"/>
                </a:solidFill>
                <a:latin typeface="Aptos"/>
              </a:rPr>
              <a:t>1. Arduino EMG sketch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30552"/>
            <a:ext cx="3099816" cy="13990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>
                <a:solidFill>
                  <a:srgbClr val="232C36"/>
                </a:solidFill>
                <a:latin typeface="Aptos"/>
              </a:rPr>
              <a:t>Reads analog input and compares it with activation/release thresholds. Sends readable serial output to the laptop.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429000" cy="196596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755648"/>
            <a:ext cx="309981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1B998B"/>
                </a:solidFill>
                <a:latin typeface="Aptos"/>
              </a:rPr>
              <a:t>2. Laptop Python program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130552"/>
            <a:ext cx="3099816" cy="13990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>
                <a:solidFill>
                  <a:srgbClr val="232C36"/>
                </a:solidFill>
                <a:latin typeface="Aptos"/>
              </a:rPr>
              <a:t>Reads the Arduino serial stream, processes webcam eye landmarks and decides the requested movement.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429000" cy="196596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11312" y="1755648"/>
            <a:ext cx="309981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E18936"/>
                </a:solidFill>
                <a:latin typeface="Aptos"/>
              </a:rPr>
              <a:t>3. ESP32 web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130552"/>
            <a:ext cx="3099816" cy="13990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>
                <a:solidFill>
                  <a:srgbClr val="232C36"/>
                </a:solidFill>
                <a:latin typeface="Aptos"/>
              </a:rPr>
              <a:t>Receives HTTP commands such as /cmd?move=FORWARD and sets L298N direction pins.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69080"/>
            <a:ext cx="1042416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800" b="1">
                <a:solidFill>
                  <a:srgbClr val="12223A"/>
                </a:solidFill>
                <a:latin typeface="Aptos"/>
              </a:rPr>
              <a:t>Typical development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10241280" cy="1508760"/>
          </a:xfrm>
          <a:prstGeom prst="rect">
            <a:avLst/>
          </a:prstGeom>
          <a:noFill/>
        </p:spPr>
        <p:txBody>
          <a:bodyPr wrap="square" lIns="54864" tIns="36576" rIns="45720" bIns="18288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232C36"/>
                </a:solidFill>
                <a:latin typeface="Aptos"/>
              </a:defRPr>
            </a:pPr>
            <a:r>
              <a:t>Upload the Arduino sketch and confirm stable serial readings first.</a:t>
            </a:r>
          </a:p>
          <a:p>
            <a:pPr>
              <a:spcAft>
                <a:spcPts val="400"/>
              </a:spcAft>
              <a:defRPr sz="1350">
                <a:solidFill>
                  <a:srgbClr val="232C36"/>
                </a:solidFill>
                <a:latin typeface="Aptos"/>
              </a:defRPr>
            </a:pPr>
            <a:r>
              <a:t>Start the ESP32 and confirm its Wi-Fi address is reachable from the laptop.</a:t>
            </a:r>
          </a:p>
          <a:p>
            <a:pPr>
              <a:spcAft>
                <a:spcPts val="400"/>
              </a:spcAft>
              <a:defRPr sz="1350">
                <a:solidFill>
                  <a:srgbClr val="232C36"/>
                </a:solidFill>
                <a:latin typeface="Aptos"/>
              </a:defRPr>
            </a:pPr>
            <a:r>
              <a:t>Run the Python integration script; verify each movement command with the wheels lifted clear of the floor.</a:t>
            </a:r>
          </a:p>
          <a:p>
            <a:pPr>
              <a:spcAft>
                <a:spcPts val="400"/>
              </a:spcAft>
              <a:defRPr sz="1350">
                <a:solidFill>
                  <a:srgbClr val="232C36"/>
                </a:solidFill>
                <a:latin typeface="Aptos"/>
              </a:defRPr>
            </a:pPr>
            <a:r>
              <a:t>Only then test the complete input-to-motion sequence at low speed in a clear area.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>
                <a:solidFill>
                  <a:srgbClr val="5A697A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88136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700" b="1">
                <a:solidFill>
                  <a:srgbClr val="12223A"/>
                </a:solidFill>
                <a:latin typeface="Aptos"/>
              </a:rPr>
              <a:t>Control logic and command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8813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>
                <a:solidFill>
                  <a:srgbClr val="5A697A"/>
                </a:solidFill>
                <a:latin typeface="Aptos"/>
              </a:rPr>
              <a:t>The intended logic uses EMG for movement permission and eyes for steering.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713232" cy="5029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645920"/>
          <a:ext cx="731520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26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EMG state</a:t>
                      </a:r>
                    </a:p>
                  </a:txBody>
                  <a:tcPr marL="109728" marR="73152" marT="73152" marB="54864">
                    <a:solidFill>
                      <a:srgbClr val="1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Eye state</a:t>
                      </a:r>
                    </a:p>
                  </a:txBody>
                  <a:tcPr marL="109728" marR="73152" marT="73152" marB="54864">
                    <a:solidFill>
                      <a:srgbClr val="1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Requested command</a:t>
                      </a:r>
                    </a:p>
                  </a:txBody>
                  <a:tcPr marL="109728" marR="73152" marT="73152" marB="54864">
                    <a:solidFill>
                      <a:srgbClr val="122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Active</a:t>
                      </a:r>
                    </a:p>
                  </a:txBody>
                  <a:tcPr marL="109728" marR="73152" marT="73152" marB="54864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Both eyes open</a:t>
                      </a:r>
                    </a:p>
                  </a:txBody>
                  <a:tcPr marL="109728" marR="73152" marT="73152" marB="54864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FORWARD</a:t>
                      </a:r>
                    </a:p>
                  </a:txBody>
                  <a:tcPr marL="109728" marR="73152" marT="73152" marB="54864">
                    <a:solidFill>
                      <a:srgbClr val="EF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Active</a:t>
                      </a:r>
                    </a:p>
                  </a:txBody>
                  <a:tcPr marL="109728" marR="73152" marT="73152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Right eye closed</a:t>
                      </a:r>
                    </a:p>
                  </a:txBody>
                  <a:tcPr marL="109728" marR="73152" marT="73152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LEFT</a:t>
                      </a:r>
                    </a:p>
                  </a:txBody>
                  <a:tcPr marL="109728" marR="73152" marT="73152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Active</a:t>
                      </a:r>
                    </a:p>
                  </a:txBody>
                  <a:tcPr marL="109728" marR="73152" marT="73152" marB="54864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Left eye closed</a:t>
                      </a:r>
                    </a:p>
                  </a:txBody>
                  <a:tcPr marL="109728" marR="73152" marT="73152" marB="54864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RIGHT</a:t>
                      </a:r>
                    </a:p>
                  </a:txBody>
                  <a:tcPr marL="109728" marR="73152" marT="73152" marB="54864">
                    <a:solidFill>
                      <a:srgbClr val="EF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Inactive / invalid</a:t>
                      </a:r>
                    </a:p>
                  </a:txBody>
                  <a:tcPr marL="109728" marR="73152" marT="73152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Any state</a:t>
                      </a:r>
                    </a:p>
                  </a:txBody>
                  <a:tcPr marL="109728" marR="73152" marT="73152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C36"/>
                          </a:solidFill>
                          <a:latin typeface="Aptos"/>
                        </a:defRPr>
                      </a:pPr>
                      <a:r>
                        <a:t>STOP</a:t>
                      </a:r>
                    </a:p>
                  </a:txBody>
                  <a:tcPr marL="109728" marR="73152" marT="73152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458200" y="1645920"/>
            <a:ext cx="2743200" cy="132588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22792" y="1755648"/>
            <a:ext cx="241401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B44141"/>
                </a:solidFill>
                <a:latin typeface="Aptos"/>
              </a:rPr>
              <a:t>Safety behaviour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22792" y="2130552"/>
            <a:ext cx="2414016" cy="7589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>
                <a:solidFill>
                  <a:srgbClr val="232C36"/>
                </a:solidFill>
                <a:latin typeface="Aptos"/>
              </a:rPr>
              <a:t>If EMG data times out or input becomes invalid, the intended fallback is STOP.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3246120"/>
            <a:ext cx="2743200" cy="132588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22792" y="3355848"/>
            <a:ext cx="241401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1B998B"/>
                </a:solidFill>
                <a:latin typeface="Aptos"/>
              </a:rPr>
              <a:t>Eye gestures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22792" y="3730752"/>
            <a:ext cx="2414016" cy="7589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>
                <a:solidFill>
                  <a:srgbClr val="232C36"/>
                </a:solidFill>
                <a:latin typeface="Aptos"/>
              </a:rPr>
              <a:t>Blinking can happen naturally; use a short hold/debounce window to reduce accidental steering.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>
                <a:solidFill>
                  <a:srgbClr val="5A697A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881360" cy="52629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en-GB" sz="2700" b="1" dirty="0">
                <a:solidFill>
                  <a:srgbClr val="12223A"/>
                </a:solidFill>
                <a:latin typeface="Aptos"/>
              </a:rPr>
              <a:t>EMG GRAPH</a:t>
            </a:r>
            <a:endParaRPr sz="2700" b="1" dirty="0">
              <a:solidFill>
                <a:srgbClr val="12223A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713232" cy="5029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" y="1664207"/>
            <a:ext cx="164592" cy="164592"/>
          </a:xfrm>
          <a:prstGeom prst="ellipse">
            <a:avLst/>
          </a:prstGeom>
          <a:solidFill>
            <a:srgbClr val="2C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1554480"/>
            <a:ext cx="274320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en-GB" sz="1400" b="1" dirty="0" err="1">
                <a:solidFill>
                  <a:srgbClr val="12223A"/>
                </a:solidFill>
                <a:latin typeface="Aptos"/>
              </a:rPr>
              <a:t>Emg</a:t>
            </a:r>
            <a:r>
              <a:rPr lang="en-GB" sz="1400" b="1" dirty="0">
                <a:solidFill>
                  <a:srgbClr val="12223A"/>
                </a:solidFill>
                <a:latin typeface="Aptos"/>
              </a:rPr>
              <a:t> graph when relaxed</a:t>
            </a:r>
            <a:endParaRPr sz="1400" b="1" dirty="0">
              <a:solidFill>
                <a:srgbClr val="12223A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94760" y="1554480"/>
            <a:ext cx="726948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>
                <a:solidFill>
                  <a:srgbClr val="232C36"/>
                </a:solidFill>
                <a:latin typeface="Aptos"/>
              </a:rPr>
              <a:t>HTTP responses for STOP / FORWARD / LEFT / RIGHT were reported as successful.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395728"/>
            <a:ext cx="726948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>
                <a:solidFill>
                  <a:srgbClr val="232C36"/>
                </a:solidFill>
                <a:latin typeface="Aptos"/>
              </a:rPr>
              <a:t>Motor-driver pin tests have been used to check motor response; confirm both sides under final wiring.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3236976"/>
            <a:ext cx="726948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>
                <a:solidFill>
                  <a:srgbClr val="232C36"/>
                </a:solidFill>
                <a:latin typeface="Aptos"/>
              </a:rPr>
              <a:t>Python eye-tracking output has previously produced LEFT / RIGHT classifications.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187952"/>
            <a:ext cx="164592" cy="164592"/>
          </a:xfrm>
          <a:prstGeom prst="ellipse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4078224"/>
            <a:ext cx="274320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 dirty="0">
                <a:solidFill>
                  <a:srgbClr val="12223A"/>
                </a:solidFill>
                <a:latin typeface="Aptos"/>
              </a:rPr>
              <a:t>EMG </a:t>
            </a:r>
            <a:r>
              <a:rPr lang="en-GB" sz="1400" b="1" dirty="0">
                <a:solidFill>
                  <a:srgbClr val="12223A"/>
                </a:solidFill>
                <a:latin typeface="Aptos"/>
              </a:rPr>
              <a:t>graph when strained</a:t>
            </a:r>
            <a:endParaRPr sz="1400" b="1" dirty="0">
              <a:solidFill>
                <a:srgbClr val="12223A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94760" y="4078224"/>
            <a:ext cx="726948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>
                <a:solidFill>
                  <a:srgbClr val="232C36"/>
                </a:solidFill>
                <a:latin typeface="Aptos"/>
              </a:rPr>
              <a:t>Recent debugging included readings stuck at 1023 and an activation state remaining IDLE; analog input and thresholds need verification.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4919472"/>
            <a:ext cx="726948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>
                <a:solidFill>
                  <a:srgbClr val="232C36"/>
                </a:solidFill>
                <a:latin typeface="Aptos"/>
              </a:rPr>
              <a:t>Final end-to-end reliability and repeatable demonstration still need to be validated.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>
                <a:solidFill>
                  <a:srgbClr val="5A697A"/>
                </a:solidFill>
                <a:latin typeface="Aptos"/>
              </a:rPr>
              <a:t>11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9228D5C-F8FD-13F4-1781-29B05E0C9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990" y="3803904"/>
            <a:ext cx="7658100" cy="22542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27A80D5-82DA-5CAA-D32A-EBFB6F812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140" y="1410789"/>
            <a:ext cx="7658100" cy="22161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88136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700" b="1">
                <a:solidFill>
                  <a:srgbClr val="12223A"/>
                </a:solidFill>
                <a:latin typeface="Aptos"/>
              </a:rPr>
              <a:t>Engineering challenges and 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8813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>
                <a:solidFill>
                  <a:srgbClr val="5A697A"/>
                </a:solidFill>
                <a:latin typeface="Aptos"/>
              </a:rPr>
              <a:t>Debug each subsystem independently before combining them.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713232" cy="5029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150876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755648"/>
            <a:ext cx="309981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B44141"/>
                </a:solidFill>
                <a:latin typeface="Aptos"/>
              </a:rPr>
              <a:t>EMG saturation / thresholding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16838"/>
            <a:ext cx="3099816" cy="81868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en-GB" sz="1150" dirty="0">
                <a:solidFill>
                  <a:srgbClr val="232C36"/>
                </a:solidFill>
                <a:latin typeface="Aptos"/>
              </a:rPr>
              <a:t>THE EMG SENSOR BEHAVES BIT DIFFERENTLY SOMETIMES BECAUSE OF THE WORE OUT ELECTRODES AND HAD TO BUY FRESH NEW SETS IN BULK</a:t>
            </a:r>
            <a:endParaRPr sz="1150" b="0" dirty="0">
              <a:solidFill>
                <a:srgbClr val="232C36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429000" cy="150876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4553712" y="1755648"/>
            <a:ext cx="309981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2A69AA"/>
                </a:solidFill>
                <a:latin typeface="Aptos"/>
              </a:rPr>
              <a:t>Network reliability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130552"/>
            <a:ext cx="3099816" cy="64171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en-GB" sz="1150" dirty="0">
                <a:solidFill>
                  <a:srgbClr val="232C36"/>
                </a:solidFill>
                <a:latin typeface="Aptos"/>
              </a:rPr>
              <a:t>MY PC WASN’T CONNECTING TO THE LOCAL SERVER, TURNED OUT TO BE A SIMPLE VPN AND FIREWALL ISSUE</a:t>
            </a:r>
            <a:endParaRPr sz="1150" b="0" dirty="0">
              <a:solidFill>
                <a:srgbClr val="232C36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429000" cy="150876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11312" y="1755648"/>
            <a:ext cx="309981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1B998B"/>
                </a:solidFill>
                <a:latin typeface="Aptos"/>
              </a:rPr>
              <a:t>Mechanical 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116838"/>
            <a:ext cx="3099816" cy="81868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en-GB" sz="1150" dirty="0">
                <a:solidFill>
                  <a:srgbClr val="232C36"/>
                </a:solidFill>
                <a:latin typeface="Aptos"/>
              </a:rPr>
              <a:t>I DIDN’T HAVE ANY ZIP TIE TO ATTACH MY MOTOR TO CHASIS SO I JUST 3D PRINTED A PERFECT BRACKET THAT CAN FIT IN PLACE WITHOUT ANY FASTENERS</a:t>
            </a:r>
            <a:r>
              <a:rPr sz="1150" b="0" dirty="0">
                <a:solidFill>
                  <a:srgbClr val="232C36"/>
                </a:solidFill>
                <a:latin typeface="Aptos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>
                <a:solidFill>
                  <a:srgbClr val="5A697A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0348"/>
            <a:ext cx="1088136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700" b="1">
                <a:solidFill>
                  <a:srgbClr val="12223A"/>
                </a:solidFill>
                <a:latin typeface="Aptos"/>
              </a:rPr>
              <a:t>Next steps and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8813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>
                <a:solidFill>
                  <a:srgbClr val="5A697A"/>
                </a:solidFill>
                <a:latin typeface="Aptos"/>
              </a:rPr>
              <a:t>Prioritised work to move from prototype to a convincing demonstration.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713232" cy="5029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25372"/>
            <a:ext cx="5486400" cy="2163669"/>
          </a:xfrm>
          <a:prstGeom prst="rect">
            <a:avLst/>
          </a:prstGeom>
          <a:noFill/>
        </p:spPr>
        <p:txBody>
          <a:bodyPr wrap="square" lIns="54864" tIns="36576" rIns="45720" bIns="18288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2C36"/>
                </a:solidFill>
                <a:latin typeface="Aptos"/>
              </a:defRPr>
            </a:pPr>
            <a:r>
              <a:rPr dirty="0"/>
              <a:t>1. </a:t>
            </a:r>
            <a:r>
              <a:rPr lang="en-GB" dirty="0"/>
              <a:t>This prototype uses only one </a:t>
            </a:r>
            <a:r>
              <a:rPr lang="en-GB" dirty="0" err="1"/>
              <a:t>emg</a:t>
            </a:r>
            <a:r>
              <a:rPr lang="en-GB" dirty="0"/>
              <a:t> sensor and an additional </a:t>
            </a:r>
            <a:r>
              <a:rPr lang="en-GB" dirty="0" err="1"/>
              <a:t>emg</a:t>
            </a:r>
            <a:r>
              <a:rPr lang="en-GB" dirty="0"/>
              <a:t> sensor can be used to add reverse feature as well</a:t>
            </a: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232C36"/>
                </a:solidFill>
                <a:latin typeface="Aptos"/>
              </a:defRPr>
            </a:pPr>
            <a:r>
              <a:rPr dirty="0"/>
              <a:t>2.</a:t>
            </a:r>
            <a:r>
              <a:rPr lang="en-GB" dirty="0"/>
              <a:t>Closing one eye to steer might be dangerous while implementing in real life so adding an imu sensor around head and using orientation difference to steer left or right</a:t>
            </a: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232C36"/>
                </a:solidFill>
                <a:latin typeface="Aptos"/>
              </a:defRPr>
            </a:pPr>
            <a:r>
              <a:rPr dirty="0"/>
              <a:t>3. </a:t>
            </a:r>
            <a:r>
              <a:rPr lang="en-GB" dirty="0"/>
              <a:t>Using </a:t>
            </a:r>
            <a:r>
              <a:rPr lang="en-GB" dirty="0" err="1"/>
              <a:t>emg</a:t>
            </a:r>
            <a:r>
              <a:rPr lang="en-GB" dirty="0"/>
              <a:t> sensor with sticking electrode isn’t viable especially for daily use </a:t>
            </a:r>
          </a:p>
          <a:p>
            <a:pPr>
              <a:spcAft>
                <a:spcPts val="1000"/>
              </a:spcAft>
              <a:defRPr sz="1400">
                <a:solidFill>
                  <a:srgbClr val="232C36"/>
                </a:solidFill>
                <a:latin typeface="Aptos"/>
              </a:defRPr>
            </a:pP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6720840" y="4297680"/>
            <a:ext cx="4434840" cy="109728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85431" y="4407408"/>
            <a:ext cx="4105655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2C8A5B"/>
                </a:solidFill>
                <a:latin typeface="Aptos"/>
              </a:rPr>
              <a:t>Success criteria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85431" y="4782312"/>
            <a:ext cx="4105655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>
                <a:solidFill>
                  <a:srgbClr val="232C36"/>
                </a:solidFill>
                <a:latin typeface="Aptos"/>
              </a:rPr>
              <a:t>The car responds predictably to intended inputs, stops safely when inputs are absent, and the build can be explained and reproduced.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510528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>
                <a:solidFill>
                  <a:srgbClr val="5A697A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85800"/>
            <a:ext cx="1042416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1">
                <a:solidFill>
                  <a:srgbClr val="7CDDCF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9875520" cy="9144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A multi-subsystem mechatronics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9784080" cy="11887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900" b="0">
                <a:solidFill>
                  <a:srgbClr val="DCE5EF"/>
                </a:solidFill>
                <a:latin typeface="Aptos"/>
              </a:rPr>
              <a:t>This project brings together sensing, signal interpretation, computer vision, wireless communication, motor control and custom mechanical design in one accessible mobility-control concept.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4434840"/>
            <a:ext cx="612648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>
                <a:solidFill>
                  <a:srgbClr val="AABED2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1093</Words>
  <Application>Microsoft Office PowerPoint</Application>
  <PresentationFormat>Widescreen</PresentationFormat>
  <Paragraphs>149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ES</dc:creator>
  <cp:keywords/>
  <dc:description>generated using python-pptx</dc:description>
  <cp:lastModifiedBy>Akin Raj</cp:lastModifiedBy>
  <cp:revision>2</cp:revision>
  <dcterms:created xsi:type="dcterms:W3CDTF">2013-01-27T09:14:16Z</dcterms:created>
  <dcterms:modified xsi:type="dcterms:W3CDTF">2026-10-28T15:27:29Z</dcterms:modified>
  <cp:category/>
</cp:coreProperties>
</file>